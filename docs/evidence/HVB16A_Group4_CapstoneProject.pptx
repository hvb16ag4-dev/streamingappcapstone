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7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5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0A4E37-8659-58ED-D2DD-B7B15ED7EE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5B628EE1-C89D-3F40-F7D7-AA3D22FA5854}"/>
              </a:ext>
            </a:extLst>
          </p:cNvPr>
          <p:cNvSpPr/>
          <p:nvPr/>
        </p:nvSpPr>
        <p:spPr>
          <a:xfrm>
            <a:off x="4314825" y="1868834"/>
            <a:ext cx="3562350" cy="295275"/>
          </a:xfrm>
          <a:prstGeom prst="roundRect">
            <a:avLst>
              <a:gd name="adj" fmla="val 50000"/>
            </a:avLst>
          </a:prstGeom>
          <a:solidFill>
            <a:srgbClr val="2B1C5D"/>
          </a:solidFill>
          <a:ln w="952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10" name="Rounded Rectangle 3">
            <a:extLst>
              <a:ext uri="{FF2B5EF4-FFF2-40B4-BE49-F238E27FC236}">
                <a16:creationId xmlns:a16="http://schemas.microsoft.com/office/drawing/2014/main" id="{D0A20642-C4A0-E986-A250-519B998C1BCA}"/>
              </a:ext>
            </a:extLst>
          </p:cNvPr>
          <p:cNvSpPr/>
          <p:nvPr/>
        </p:nvSpPr>
        <p:spPr>
          <a:xfrm>
            <a:off x="2524125" y="4131915"/>
            <a:ext cx="7143750" cy="857250"/>
          </a:xfrm>
          <a:prstGeom prst="roundRect">
            <a:avLst>
              <a:gd name="adj" fmla="val 13333"/>
            </a:avLst>
          </a:prstGeom>
          <a:solidFill>
            <a:srgbClr val="232143"/>
          </a:solidFill>
          <a:ln w="9525">
            <a:solidFill>
              <a:srgbClr val="2E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5E3C0F1-B6E0-8258-110F-35FD930F28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8981" y="4617690"/>
            <a:ext cx="152400" cy="1524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79A410D-DC5C-312B-5315-005ACF180B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368" y="4617690"/>
            <a:ext cx="152400" cy="152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43A16A-B3F6-5634-A50F-C84A421FD6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956" y="4617690"/>
            <a:ext cx="152400" cy="152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42FED19-1D18-ED57-ABF1-6E093434C1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4843" y="4617690"/>
            <a:ext cx="152400" cy="152400"/>
          </a:xfrm>
          <a:prstGeom prst="rect">
            <a:avLst/>
          </a:prstGeom>
        </p:spPr>
      </p:pic>
      <p:sp>
        <p:nvSpPr>
          <p:cNvPr id="15" name="TextBox 8">
            <a:extLst>
              <a:ext uri="{FF2B5EF4-FFF2-40B4-BE49-F238E27FC236}">
                <a16:creationId xmlns:a16="http://schemas.microsoft.com/office/drawing/2014/main" id="{454BEB1D-70EE-4861-E048-CE4DCCB2C692}"/>
              </a:ext>
            </a:extLst>
          </p:cNvPr>
          <p:cNvSpPr txBox="1"/>
          <p:nvPr/>
        </p:nvSpPr>
        <p:spPr>
          <a:xfrm>
            <a:off x="470296" y="2392709"/>
            <a:ext cx="11251406" cy="1005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3959"/>
              </a:lnSpc>
            </a:pPr>
            <a:r>
              <a:rPr sz="3300" b="1" i="0" u="none">
                <a:solidFill>
                  <a:srgbClr val="FFFFFF"/>
                </a:solidFill>
                <a:latin typeface="Inter"/>
              </a:rPr>
              <a:t>End-to-End DevOps Pipeline for a Web Application with CI/CD</a:t>
            </a:r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34C33777-76DB-D1AA-C061-889632B07CB7}"/>
              </a:ext>
            </a:extLst>
          </p:cNvPr>
          <p:cNvSpPr txBox="1"/>
          <p:nvPr/>
        </p:nvSpPr>
        <p:spPr>
          <a:xfrm>
            <a:off x="1476375" y="3550890"/>
            <a:ext cx="92392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350" b="0" i="0" u="none">
                <a:solidFill>
                  <a:srgbClr val="94A3B8"/>
                </a:solidFill>
                <a:latin typeface="Inter"/>
              </a:rPr>
              <a:t>Complete Presentation: Objectives, AWS Architecture, Sprint Status &amp; Evidence Standards</a:t>
            </a:r>
          </a:p>
        </p:txBody>
      </p:sp>
      <p:sp>
        <p:nvSpPr>
          <p:cNvPr id="17" name="TextBox 10">
            <a:extLst>
              <a:ext uri="{FF2B5EF4-FFF2-40B4-BE49-F238E27FC236}">
                <a16:creationId xmlns:a16="http://schemas.microsoft.com/office/drawing/2014/main" id="{AF924A02-A4EB-A945-D19F-54ED1277EE59}"/>
              </a:ext>
            </a:extLst>
          </p:cNvPr>
          <p:cNvSpPr txBox="1"/>
          <p:nvPr/>
        </p:nvSpPr>
        <p:spPr>
          <a:xfrm>
            <a:off x="4071937" y="1935509"/>
            <a:ext cx="404812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050" b="1" i="0" u="none">
                <a:solidFill>
                  <a:srgbClr val="A78BFA"/>
                </a:solidFill>
                <a:latin typeface="Inter"/>
              </a:rPr>
              <a:t>HEROVIRED CAPSTONE PROJECT • GROUP 4</a:t>
            </a:r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5F18E38F-05F8-427E-567C-9A6BC4DE0274}"/>
              </a:ext>
            </a:extLst>
          </p:cNvPr>
          <p:cNvSpPr txBox="1"/>
          <p:nvPr/>
        </p:nvSpPr>
        <p:spPr>
          <a:xfrm>
            <a:off x="2024062" y="4331940"/>
            <a:ext cx="814387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975" b="1" i="0" u="none">
                <a:solidFill>
                  <a:srgbClr val="38BDF8"/>
                </a:solidFill>
                <a:latin typeface="Inter"/>
              </a:rPr>
              <a:t>GROUP MEMBERS</a:t>
            </a:r>
          </a:p>
        </p:txBody>
      </p:sp>
      <p:sp>
        <p:nvSpPr>
          <p:cNvPr id="19" name="TextBox 12">
            <a:extLst>
              <a:ext uri="{FF2B5EF4-FFF2-40B4-BE49-F238E27FC236}">
                <a16:creationId xmlns:a16="http://schemas.microsoft.com/office/drawing/2014/main" id="{05623A9B-31FC-412A-149F-1752E6D94BD1}"/>
              </a:ext>
            </a:extLst>
          </p:cNvPr>
          <p:cNvSpPr txBox="1"/>
          <p:nvPr/>
        </p:nvSpPr>
        <p:spPr>
          <a:xfrm>
            <a:off x="3136106" y="4598640"/>
            <a:ext cx="981075" cy="190500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 i="0" u="none">
                <a:solidFill>
                  <a:srgbClr val="F1F5F9"/>
                </a:solidFill>
                <a:latin typeface="Inter"/>
              </a:rPr>
              <a:t>Harika</a:t>
            </a:r>
          </a:p>
        </p:txBody>
      </p:sp>
      <p:sp>
        <p:nvSpPr>
          <p:cNvPr id="20" name="TextBox 13">
            <a:extLst>
              <a:ext uri="{FF2B5EF4-FFF2-40B4-BE49-F238E27FC236}">
                <a16:creationId xmlns:a16="http://schemas.microsoft.com/office/drawing/2014/main" id="{7D1D14FB-5B28-C1AE-0781-FDFBC656A18A}"/>
              </a:ext>
            </a:extLst>
          </p:cNvPr>
          <p:cNvSpPr txBox="1"/>
          <p:nvPr/>
        </p:nvSpPr>
        <p:spPr>
          <a:xfrm>
            <a:off x="4712493" y="4598640"/>
            <a:ext cx="1057275" cy="190500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 i="0" u="none">
                <a:solidFill>
                  <a:srgbClr val="F1F5F9"/>
                </a:solidFill>
                <a:latin typeface="Inter"/>
              </a:rPr>
              <a:t>Ranjeet</a:t>
            </a:r>
          </a:p>
        </p:txBody>
      </p:sp>
      <p:sp>
        <p:nvSpPr>
          <p:cNvPr id="21" name="TextBox 14">
            <a:extLst>
              <a:ext uri="{FF2B5EF4-FFF2-40B4-BE49-F238E27FC236}">
                <a16:creationId xmlns:a16="http://schemas.microsoft.com/office/drawing/2014/main" id="{AE1ED12E-ADAD-ECE0-C410-73D8CA650F15}"/>
              </a:ext>
            </a:extLst>
          </p:cNvPr>
          <p:cNvSpPr txBox="1"/>
          <p:nvPr/>
        </p:nvSpPr>
        <p:spPr>
          <a:xfrm>
            <a:off x="6365081" y="4598640"/>
            <a:ext cx="1171575" cy="190500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 i="0" u="none">
                <a:solidFill>
                  <a:srgbClr val="F1F5F9"/>
                </a:solidFill>
                <a:latin typeface="Inter"/>
              </a:rPr>
              <a:t>Abhaash</a:t>
            </a:r>
          </a:p>
        </p:txBody>
      </p:sp>
      <p:sp>
        <p:nvSpPr>
          <p:cNvPr id="22" name="TextBox 15">
            <a:extLst>
              <a:ext uri="{FF2B5EF4-FFF2-40B4-BE49-F238E27FC236}">
                <a16:creationId xmlns:a16="http://schemas.microsoft.com/office/drawing/2014/main" id="{BEAFEFC9-8F91-3E9E-2DA2-FCCEF50D7BA7}"/>
              </a:ext>
            </a:extLst>
          </p:cNvPr>
          <p:cNvSpPr txBox="1"/>
          <p:nvPr/>
        </p:nvSpPr>
        <p:spPr>
          <a:xfrm>
            <a:off x="8131968" y="4598640"/>
            <a:ext cx="923925" cy="190500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1200" b="1" i="0" u="none">
                <a:solidFill>
                  <a:srgbClr val="F1F5F9"/>
                </a:solidFill>
                <a:latin typeface="Inter"/>
              </a:rPr>
              <a:t>Vivek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1594395"/>
            <a:ext cx="5372100" cy="381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21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9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1594395"/>
            <a:ext cx="537210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28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246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1932533"/>
            <a:ext cx="180975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1932533"/>
            <a:ext cx="180975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475458"/>
            <a:ext cx="133350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251745"/>
            <a:ext cx="133350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813720"/>
            <a:ext cx="133350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2475458"/>
            <a:ext cx="114300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3037433"/>
            <a:ext cx="114300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3599408"/>
            <a:ext cx="114300" cy="1428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4161383"/>
            <a:ext cx="114300" cy="14287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9600" y="485775"/>
            <a:ext cx="178296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A855F7"/>
                </a:solidFill>
                <a:latin typeface="system-ui"/>
              </a:rPr>
              <a:t>PROJECT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Problem Statement &amp; Project Goals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Automating cloud deployment pipelines to eliminate manual bottlenecks and configuration drift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0150" y="1899195"/>
            <a:ext cx="4790598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Problem Statement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00850" y="1899195"/>
            <a:ext cx="4790598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Core Project Goals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1575" y="2442120"/>
            <a:ext cx="459105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A855F7"/>
                </a:solidFill>
                <a:latin typeface="system-ui"/>
              </a:rPr>
              <a:t>Operational Bottleneck: DevOps teams require a streamlined CI/CD pipeline to build, test, and deploy code consistently across environments.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1575" y="3218408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A855F7"/>
                </a:solidFill>
                <a:latin typeface="system-ui"/>
              </a:rPr>
              <a:t>Orchestration Solution: Utilizing Jenkins as the master orchestrator for a Dockerized app deployed to AWS EKS.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1575" y="3780383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A855F7"/>
                </a:solidFill>
                <a:latin typeface="system-ui"/>
              </a:rPr>
              <a:t>Automation Drive: Automating infrastructure provisioning and server setup to reduce manual intervention.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53225" y="244212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Architect AWS environment featuring Load Balancers, EKS orchestration, and monitoring.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53225" y="300409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Provision VPCs, Subnets, and EKS clusters using modular Terraform scripts.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53225" y="356607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Automate configuration management using Ansible playbooks for target instances.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53225" y="412804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Deploy scalable web apps to EKS with Prometheus &amp; Grafana real-time metrics.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1594395"/>
            <a:ext cx="537210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21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9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1594395"/>
            <a:ext cx="5372100" cy="381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28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246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1932533"/>
            <a:ext cx="200025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1932533"/>
            <a:ext cx="200025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475458"/>
            <a:ext cx="114300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" y="3037433"/>
            <a:ext cx="152400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25" y="3599408"/>
            <a:ext cx="171450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4625" y="2475458"/>
            <a:ext cx="152400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4625" y="3037433"/>
            <a:ext cx="114300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625" y="3599408"/>
            <a:ext cx="133350" cy="1428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9600" y="485775"/>
            <a:ext cx="2435014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3B82F6"/>
                </a:solidFill>
                <a:latin typeface="system-ui"/>
              </a:rPr>
              <a:t>ARCHITECTURE &amp; 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Implementation Strategy &amp; Cost Optimization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Automated multi-tool delivery chain designed for production stability and cloud budget efficiency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9200" y="1899195"/>
            <a:ext cx="4770596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Technical Implementation Workflow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9900" y="1899195"/>
            <a:ext cx="4770596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Cost Efficiency Measures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525" y="244212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Trigger &amp; Build: Git commit triggers Jenkins via webhooks to build Docker container images.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0625" y="3004095"/>
            <a:ext cx="45720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Provision &amp; Config: Jenkins executes Terraform for EKS creation, followed by Ansible node configuration.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9675" y="3566070"/>
            <a:ext cx="45529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Registry &amp; Deploy: Images stored in AWS ECR and deployed to EKS via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kubectl</a:t>
            </a:r>
            <a:r>
              <a:rPr sz="1050" b="1" i="0" u="none">
                <a:solidFill>
                  <a:srgbClr val="3B82F6"/>
                </a:solidFill>
                <a:latin typeface="system-ui"/>
              </a:rPr>
              <a:t> manifests.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1325" y="2442120"/>
            <a:ext cx="45720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EKS Dynamic Scaling: Auto-scaling node groups scale down to minimum capacity off-peak.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53225" y="300409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S3 Lifecycle Rules: Automatic cleanup of old state backups and build artifacts in AWS ECR.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72275" y="3566070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Automated Cleanup: Complete infrastructure teardown validation via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terraform destroy</a:t>
            </a:r>
            <a:r>
              <a:rPr sz="1050" b="1" i="0" u="none">
                <a:solidFill>
                  <a:srgbClr val="22C55E"/>
                </a:solidFill>
                <a:latin typeface="system-u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94395"/>
            <a:ext cx="10972800" cy="480640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5" y="1756320"/>
            <a:ext cx="10648950" cy="448255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485775"/>
            <a:ext cx="174389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A855F7"/>
                </a:solidFill>
                <a:latin typeface="system-ui"/>
              </a:rPr>
              <a:t>SYSTEM TOPOLOGY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Jenkins-Driven EKS Deployment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End-to-end cloud infrastructure flow from developer commit to AWS EKS cluster deployment and monitoring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1594395"/>
            <a:ext cx="5372100" cy="381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21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9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1594395"/>
            <a:ext cx="5372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28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246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1932533"/>
            <a:ext cx="161925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1932533"/>
            <a:ext cx="180975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475458"/>
            <a:ext cx="114300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037433"/>
            <a:ext cx="114300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2475458"/>
            <a:ext cx="133350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3037433"/>
            <a:ext cx="133350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3599408"/>
            <a:ext cx="133350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4161383"/>
            <a:ext cx="133350" cy="1428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9600" y="485775"/>
            <a:ext cx="203150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A855F7"/>
                </a:solidFill>
                <a:latin typeface="system-ui"/>
              </a:rPr>
              <a:t>MILESTONE SUMMARY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Complete Project Milestones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Comprehensive breakdown of all 6 project milestones from foundation to teardown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1100" y="1899195"/>
            <a:ext cx="4810601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Completed Milestones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00850" y="1899195"/>
            <a:ext cx="4790598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Upcoming Execution Milestones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525" y="244212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Milestone 1: Architecture Design, Containerization with Docker, ECR Repository, and EC2 Jenkins Server Setup.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525" y="300409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Milestone 2: AWS Infrastructure Provisioning using Modular Terraform (VPC, EKS, Subnets) with S3 Remote State Locking.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72275" y="2442120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Milestone 3: Configuration Management with Ansible Playbooks for dynamic node provisioning post-Terraform.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72275" y="3004095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Milestone 4: Declarative Multi-stage Jenkins Pipeline for automated Docker builds, ECR pushing, and EKS deployments.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72275" y="3566070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Milestone 5: Observability stack installation (Prometheus &amp; Grafana Helm charts) with Alertmanager notifications.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72275" y="4128045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 dirty="0">
                <a:solidFill>
                  <a:srgbClr val="F59E0B"/>
                </a:solidFill>
                <a:latin typeface="system-ui"/>
              </a:rPr>
              <a:t>Milestone 6: End-to-end integration testing, screenshot</a:t>
            </a:r>
            <a:r>
              <a:rPr lang="en-IN" sz="1050" b="1" i="0" u="none" dirty="0">
                <a:solidFill>
                  <a:srgbClr val="F59E0B"/>
                </a:solidFill>
                <a:latin typeface="system-ui"/>
              </a:rPr>
              <a:t>s</a:t>
            </a:r>
            <a:r>
              <a:rPr sz="1050" b="1" i="0" u="none" dirty="0">
                <a:solidFill>
                  <a:srgbClr val="F59E0B"/>
                </a:solidFill>
                <a:latin typeface="system-ui"/>
              </a:rPr>
              <a:t> evidence documentation, and </a:t>
            </a:r>
            <a:r>
              <a:rPr lang="en-IN" sz="1050" b="1" i="0" u="none" dirty="0">
                <a:solidFill>
                  <a:srgbClr val="F59E0B"/>
                </a:solidFill>
                <a:latin typeface="system-ui"/>
              </a:rPr>
              <a:t>automated cloud resources</a:t>
            </a:r>
            <a:r>
              <a:rPr sz="1050" b="1" i="0" u="none" dirty="0">
                <a:solidFill>
                  <a:srgbClr val="F59E0B"/>
                </a:solidFill>
                <a:latin typeface="system-ui"/>
              </a:rPr>
              <a:t> teardown</a:t>
            </a:r>
            <a:r>
              <a:rPr lang="en-IN" sz="1050" b="1" i="0" u="none" dirty="0">
                <a:solidFill>
                  <a:srgbClr val="F59E0B"/>
                </a:solidFill>
                <a:latin typeface="system-ui"/>
              </a:rPr>
              <a:t>.</a:t>
            </a:r>
            <a:endParaRPr sz="1050" b="1" i="0" u="none" dirty="0">
              <a:solidFill>
                <a:srgbClr val="F59E0B"/>
              </a:solidFill>
              <a:latin typeface="system-u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1594395"/>
            <a:ext cx="5372100" cy="381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21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925" y="250879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1594395"/>
            <a:ext cx="5372100" cy="381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28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246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2056358"/>
            <a:ext cx="161925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625" y="1932533"/>
            <a:ext cx="161925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2723108"/>
            <a:ext cx="114300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3285083"/>
            <a:ext cx="114300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3847058"/>
            <a:ext cx="114300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4409033"/>
            <a:ext cx="114300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2475458"/>
            <a:ext cx="114300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3037433"/>
            <a:ext cx="114300" cy="1428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3599408"/>
            <a:ext cx="114300" cy="1428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4161383"/>
            <a:ext cx="114300" cy="14287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9600" y="485775"/>
            <a:ext cx="212433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22C55E"/>
                </a:solidFill>
                <a:latin typeface="system-ui"/>
              </a:rPr>
              <a:t>COMPLETED ARTIFACTS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Dockerization, Jenkins Pipeline and Terraform Infrastructure Provisioning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Established base architecture, containerization, and Terraform 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100" y="1899195"/>
            <a:ext cx="4810601" cy="504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Sprint 1: Setup, Containerization &amp; Jenkins 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1899195"/>
            <a:ext cx="4810601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Sprint 2: IaC Provisioning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525" y="268977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EKS Design: Formulated multi-subnet VPC architecture with AWS Load Balancer.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525" y="325174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Containerization: Wrote optimized Dockerfile; verified container image locally &amp; pushed to ECR.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525" y="381372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Jenkins Server: Deployed on EC2 with AWS CLI, Docker, Kubernetes &amp; Git plugins.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525" y="437569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Pipeline &amp; Webhooks: Configured Jenkins multi-stage pipeline, IAM credentials, and GitHub webhooks for automatic triggers.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53225" y="244212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Terraform Scripts: Created modular IaC for VPC, Subnets, Gateways, SGs &amp; EKS.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53225" y="300409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Remote Backend: Configured AWS S3 bucket backend with DynamoDB locking.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53225" y="356607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Jenkins Automation: Automated job executing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terraform init</a:t>
            </a:r>
            <a:r>
              <a:rPr sz="1050" b="1" i="0" u="none">
                <a:solidFill>
                  <a:srgbClr val="22C55E"/>
                </a:solidFill>
                <a:latin typeface="system-ui"/>
              </a:rPr>
              <a:t>,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terraform plan</a:t>
            </a:r>
            <a:r>
              <a:rPr sz="1050" b="1" i="0" u="none">
                <a:solidFill>
                  <a:srgbClr val="22C55E"/>
                </a:solidFill>
                <a:latin typeface="system-ui"/>
              </a:rPr>
              <a:t>, and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terraform apply</a:t>
            </a:r>
            <a:r>
              <a:rPr sz="1050" b="1" i="0" u="none">
                <a:solidFill>
                  <a:srgbClr val="22C55E"/>
                </a:solidFill>
                <a:latin typeface="system-ui"/>
              </a:rPr>
              <a:t>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53225" y="412804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State Locking: Secured state synchronization for team collaboration.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1594395"/>
            <a:ext cx="5372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21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9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1594395"/>
            <a:ext cx="5372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28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246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1932533"/>
            <a:ext cx="200025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1932533"/>
            <a:ext cx="180975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475458"/>
            <a:ext cx="104775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037433"/>
            <a:ext cx="104775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599408"/>
            <a:ext cx="104775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4161383"/>
            <a:ext cx="104775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2475458"/>
            <a:ext cx="104775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3037433"/>
            <a:ext cx="104775" cy="1428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3599408"/>
            <a:ext cx="104775" cy="1428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4161383"/>
            <a:ext cx="104775" cy="14287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9600" y="485775"/>
            <a:ext cx="195746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IN" sz="975" b="1" i="0" u="none" dirty="0">
                <a:solidFill>
                  <a:srgbClr val="F59E0B"/>
                </a:solidFill>
                <a:latin typeface="system-ui"/>
              </a:rPr>
              <a:t>PENDING</a:t>
            </a:r>
            <a:r>
              <a:rPr sz="975" b="1" i="0" u="none" dirty="0">
                <a:solidFill>
                  <a:srgbClr val="F59E0B"/>
                </a:solidFill>
                <a:latin typeface="system-ui"/>
              </a:rPr>
              <a:t> EXECUTION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Sprints 3 &amp; 4: Configuration &amp; Deployment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Target server configuration and end-to-end Kubernetes delivery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9200" y="1899195"/>
            <a:ext cx="4770596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Sprint 3: Ansible Configuration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0850" y="1899195"/>
            <a:ext cx="4790598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Sprint 4: EKS Application CI/CD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244212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Playbooks: Write playbooks to configure EC2, install Docker,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kubectl</a:t>
            </a:r>
            <a:r>
              <a:rPr sz="1050" b="1" i="0" u="none">
                <a:solidFill>
                  <a:srgbClr val="F59E0B"/>
                </a:solidFill>
                <a:latin typeface="system-ui"/>
              </a:rPr>
              <a:t>, and dependencies.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300409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Jenkins Pipeline: Create pipeline job to run playbooks dynamically on AWS resources.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356607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Downstream Flow: Trigger Ansible job automatically following Terraform completion.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12804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Validation: Verify playbook execution across provisioned environments.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43700" y="244212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Jenkinsfile: Develop multi-stage pipeline (Build, Test, Push, Deploy).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3700" y="300409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Container Push: Automate Docker image build and push to AWS ECR.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3700" y="356607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K8s Manifests: Deploy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Deployment.yaml</a:t>
            </a:r>
            <a:r>
              <a:rPr sz="1050" b="1" i="0" u="none">
                <a:solidFill>
                  <a:srgbClr val="F59E0B"/>
                </a:solidFill>
                <a:latin typeface="system-ui"/>
              </a:rPr>
              <a:t> and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Service.yaml</a:t>
            </a:r>
            <a:r>
              <a:rPr sz="1050" b="1" i="0" u="none">
                <a:solidFill>
                  <a:srgbClr val="F59E0B"/>
                </a:solidFill>
                <a:latin typeface="system-ui"/>
              </a:rPr>
              <a:t> to EKS.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43700" y="412804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Resilience: Configure K8s health checks, readiness probes, and HPA autoscaling.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1594395"/>
            <a:ext cx="5372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21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9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1594395"/>
            <a:ext cx="5372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28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246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1932533"/>
            <a:ext cx="180975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1932533"/>
            <a:ext cx="133350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475458"/>
            <a:ext cx="104775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037433"/>
            <a:ext cx="104775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599408"/>
            <a:ext cx="104775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4161383"/>
            <a:ext cx="104775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2475458"/>
            <a:ext cx="104775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3037433"/>
            <a:ext cx="104775" cy="1428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3599408"/>
            <a:ext cx="104775" cy="1428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4161383"/>
            <a:ext cx="104775" cy="14287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9600" y="485775"/>
            <a:ext cx="195746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F59E0B"/>
                </a:solidFill>
                <a:latin typeface="system-ui"/>
              </a:rPr>
              <a:t>PENDING EXECUTION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Sprints 5 &amp; 6: Observability &amp; Final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Metrics monitoring, alert routing, final testing, and infrastructure teardown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0150" y="1899195"/>
            <a:ext cx="4790598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Sprint 5: Monitoring &amp; Alerting Plan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3225" y="1899195"/>
            <a:ext cx="4840605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Sprint 6: Testing &amp; Documentation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244212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Prometheus Setup: Deploy Prometheus in EKS to monitor node and app metrics.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300409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Grafana Dashboards: Build dashboards visualizing cluster performance and health.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356607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Jenkins Integration: Monitor build pipelines and underlying infrastructure health.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12804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Alert Routing: Configure Prometheus alerting rules for build failure notifications.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43700" y="244212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Test Suites: Execute test cases for app functionality and infrastructure integrity.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3700" y="300409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Auto Triggers: Link stage-to-stage triggers (Code push → Build → Deploy).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3700" y="3566070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Documentation: Finalize Terraform, Ansible, K8s, and Jenkins guides.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43700" y="4128045"/>
            <a:ext cx="4619625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F59E0B"/>
                </a:solidFill>
                <a:latin typeface="system-ui"/>
              </a:rPr>
              <a:t>Teardown Verification: Validate resource cleanup via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terraform destroy</a:t>
            </a:r>
            <a:r>
              <a:rPr sz="1050" b="1" i="0" u="none">
                <a:solidFill>
                  <a:srgbClr val="F59E0B"/>
                </a:solidFill>
                <a:latin typeface="system-u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10300" y="1594395"/>
            <a:ext cx="5372100" cy="4806404"/>
          </a:xfrm>
          <a:prstGeom prst="roundRect">
            <a:avLst>
              <a:gd name="adj" fmla="val 2378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1594395"/>
            <a:ext cx="537210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721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9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6391275"/>
            <a:ext cx="537210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1594395"/>
            <a:ext cx="5372100" cy="381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10300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572875" y="1594395"/>
            <a:ext cx="9525" cy="4806404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24625" y="2261145"/>
            <a:ext cx="4743450" cy="9525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1932533"/>
            <a:ext cx="180975" cy="1809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625" y="1932533"/>
            <a:ext cx="180975" cy="18097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475458"/>
            <a:ext cx="133350" cy="14287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2823120"/>
            <a:ext cx="133350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3385095"/>
            <a:ext cx="133350" cy="14287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2475458"/>
            <a:ext cx="114300" cy="14287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3037433"/>
            <a:ext cx="114300" cy="14287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625" y="3599408"/>
            <a:ext cx="114300" cy="1428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9600" y="485775"/>
            <a:ext cx="203857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3B82F6"/>
                </a:solidFill>
                <a:latin typeface="system-ui"/>
              </a:rPr>
              <a:t>EVIDENCE STANDARDS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733425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F8FAFC"/>
                </a:solidFill>
                <a:latin typeface="system-ui"/>
              </a:rPr>
              <a:t>Documentation &amp; Evidence 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1156245"/>
            <a:ext cx="115824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system-ui"/>
              </a:rPr>
              <a:t>Capturing delivery screenshots, naming conventions, and security 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0150" y="1899195"/>
            <a:ext cx="4790598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Evidence Captures 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00850" y="1899195"/>
            <a:ext cx="4790598" cy="257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25" b="1" i="0" u="none">
                <a:solidFill>
                  <a:srgbClr val="F8FAFC"/>
                </a:solidFill>
                <a:latin typeface="system-ui"/>
              </a:rPr>
              <a:t>Compliance &amp; Redaction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1575" y="2442120"/>
            <a:ext cx="5681662" cy="214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Tool Versions: Terminal captures for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terraform</a:t>
            </a:r>
            <a:r>
              <a:rPr sz="1050" b="1" i="0" u="none">
                <a:solidFill>
                  <a:srgbClr val="3B82F6"/>
                </a:solidFill>
                <a:latin typeface="system-ui"/>
              </a:rPr>
              <a:t>,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aws</a:t>
            </a:r>
            <a:r>
              <a:rPr sz="1050" b="1" i="0" u="none">
                <a:solidFill>
                  <a:srgbClr val="3B82F6"/>
                </a:solidFill>
                <a:latin typeface="system-ui"/>
              </a:rPr>
              <a:t>, and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kubectl</a:t>
            </a:r>
            <a:r>
              <a:rPr sz="1050" b="1" i="0" u="none">
                <a:solidFill>
                  <a:srgbClr val="3B82F6"/>
                </a:solidFill>
                <a:latin typeface="system-ui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1575" y="2789783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IaC Verification: Terminal outputs for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terraform plan</a:t>
            </a:r>
            <a:r>
              <a:rPr sz="1050" b="1" i="0" u="none">
                <a:solidFill>
                  <a:srgbClr val="3B82F6"/>
                </a:solidFill>
                <a:latin typeface="system-ui"/>
              </a:rPr>
              <a:t> and AWS Console active EKS cluster.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1575" y="3351758"/>
            <a:ext cx="459105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3B82F6"/>
                </a:solidFill>
                <a:latin typeface="system-ui"/>
              </a:rPr>
              <a:t>Deployment &amp; App: Jenkins build console logs and live LoadBalancer endpoint HTTP test.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3225" y="244212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Naming Rules: Follow exact pattern: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YYYY-MM-DD-m2-eks-cluster.png</a:t>
            </a:r>
            <a:r>
              <a:rPr sz="1050" b="1" i="0" u="none">
                <a:solidFill>
                  <a:srgbClr val="22C55E"/>
                </a:solidFill>
                <a:latin typeface="system-ui"/>
              </a:rPr>
              <a:t>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53225" y="3004095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Redaction Policy: Redact AWS account IDs, private keys, secrets, and IP addresses.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53225" y="3566070"/>
            <a:ext cx="46101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050" b="1" i="0" u="none">
                <a:solidFill>
                  <a:srgbClr val="22C55E"/>
                </a:solidFill>
                <a:latin typeface="system-ui"/>
              </a:rPr>
              <a:t>Repo Cleanliness: Keep state files local/backend; store captures under </a:t>
            </a:r>
            <a:r>
              <a:rPr sz="1050" b="1" i="0" u="none">
                <a:solidFill>
                  <a:srgbClr val="38BDF8"/>
                </a:solidFill>
                <a:latin typeface="system-ui"/>
              </a:rPr>
              <a:t>/docs/evidence</a:t>
            </a:r>
            <a:r>
              <a:rPr sz="1050" b="1" i="0" u="none">
                <a:solidFill>
                  <a:srgbClr val="22C55E"/>
                </a:solidFill>
                <a:latin typeface="system-u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957911" y="2161282"/>
            <a:ext cx="2276028" cy="304800"/>
          </a:xfrm>
          <a:prstGeom prst="roundRect">
            <a:avLst>
              <a:gd name="adj" fmla="val 50000"/>
            </a:avLst>
          </a:prstGeom>
          <a:solidFill>
            <a:srgbClr val="131F35"/>
          </a:solidFill>
          <a:ln w="9525">
            <a:solidFill>
              <a:srgbClr val="172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023098" y="4258567"/>
            <a:ext cx="2145655" cy="438150"/>
          </a:xfrm>
          <a:prstGeom prst="roundRect">
            <a:avLst>
              <a:gd name="adj" fmla="val 50000"/>
            </a:avLst>
          </a:prstGeom>
          <a:solidFill>
            <a:srgbClr val="1F2937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9323" y="4401442"/>
            <a:ext cx="190500" cy="152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44857" y="2218432"/>
            <a:ext cx="2502135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3B82F6"/>
                </a:solidFill>
                <a:latin typeface="system-ui"/>
              </a:rPr>
              <a:t>INTERACTIVE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75" y="2732782"/>
            <a:ext cx="10001250" cy="5256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140"/>
              </a:lnSpc>
            </a:pPr>
            <a:r>
              <a:rPr sz="3450" b="1" i="0" u="none">
                <a:solidFill>
                  <a:srgbClr val="F8FAFC"/>
                </a:solidFill>
                <a:latin typeface="system-ui"/>
              </a:rPr>
              <a:t>Questions &amp;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3410842"/>
            <a:ext cx="9525000" cy="542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137"/>
              </a:lnSpc>
            </a:pPr>
            <a:r>
              <a:rPr sz="1425" b="0" i="0" u="none">
                <a:solidFill>
                  <a:srgbClr val="94A3B8"/>
                </a:solidFill>
                <a:latin typeface="system-ui"/>
              </a:rPr>
              <a:t>We welcome your questions, feedback, and discussion regarding our architecture, implementation plan, and pipeline execution.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1641" y="4382392"/>
            <a:ext cx="1634318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F8FAFC"/>
                </a:solidFill>
                <a:latin typeface="system-ui"/>
              </a:rPr>
              <a:t>Q&amp;A Session Open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2F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960887" y="2639317"/>
            <a:ext cx="2270075" cy="304800"/>
          </a:xfrm>
          <a:prstGeom prst="roundRect">
            <a:avLst>
              <a:gd name="adj" fmla="val 50000"/>
            </a:avLst>
          </a:prstGeom>
          <a:solidFill>
            <a:srgbClr val="0C3E2F"/>
          </a:solidFill>
          <a:ln w="9525">
            <a:solidFill>
              <a:srgbClr val="0E4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48578" y="2696467"/>
            <a:ext cx="2494694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 b="1" i="0" u="none">
                <a:solidFill>
                  <a:srgbClr val="22C55E"/>
                </a:solidFill>
                <a:latin typeface="system-ui"/>
              </a:rPr>
              <a:t>PRESENTATION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1372" y="3210817"/>
            <a:ext cx="7169255" cy="5695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484"/>
              </a:lnSpc>
            </a:pPr>
            <a:r>
              <a:rPr sz="3900" b="1" i="0" u="none">
                <a:solidFill>
                  <a:srgbClr val="F8FAFC"/>
                </a:solidFill>
                <a:latin typeface="system-ui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2068" y="3932783"/>
            <a:ext cx="6827862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rgbClr val="94A3B8"/>
                </a:solidFill>
                <a:latin typeface="system-ui"/>
              </a:rPr>
              <a:t>End-to-End DevOps Pipeline for a Web Application with CI/CD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1013</Words>
  <Application>Microsoft Office PowerPoint</Application>
  <PresentationFormat>Widescreen</PresentationFormat>
  <Paragraphs>102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Inter</vt:lpstr>
      <vt:lpstr>system-ui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Vikram R</cp:lastModifiedBy>
  <cp:revision>4</cp:revision>
  <dcterms:created xsi:type="dcterms:W3CDTF">2013-01-27T09:14:16Z</dcterms:created>
  <dcterms:modified xsi:type="dcterms:W3CDTF">2026-10-31T04:28:06Z</dcterms:modified>
  <cp:category/>
</cp:coreProperties>
</file>