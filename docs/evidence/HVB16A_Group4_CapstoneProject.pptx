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756249" y="2398514"/>
            <a:ext cx="2679352" cy="304800"/>
          </a:xfrm>
          <a:prstGeom prst="roundRect">
            <a:avLst>
              <a:gd name="adj" fmla="val 50000"/>
            </a:avLst>
          </a:prstGeom>
          <a:solidFill>
            <a:srgbClr val="192046"/>
          </a:solidFill>
          <a:ln w="9525">
            <a:solidFill>
              <a:srgbClr val="1D2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92780" y="2455664"/>
            <a:ext cx="300629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3B82F6"/>
                </a:solidFill>
                <a:latin typeface="system-ui"/>
              </a:rPr>
              <a:t>HEROVIRED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" y="2970014"/>
            <a:ext cx="11811000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sz="3450" b="1" i="0" u="none">
                <a:solidFill>
                  <a:srgbClr val="F8FAFC"/>
                </a:solidFill>
                <a:latin typeface="system-ui"/>
              </a:rPr>
              <a:t>End-to-End DevOps Pipeline for a Web Application with CI/CD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4173735"/>
            <a:ext cx="114300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system-ui"/>
              </a:rPr>
              <a:t>Complete Presentation: Objectives, AWS Architecture, Sprint Status &amp; Evidence Standards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94395"/>
            <a:ext cx="5372100" cy="4806404"/>
          </a:xfrm>
          <a:prstGeom prst="roundRect">
            <a:avLst>
              <a:gd name="adj" fmla="val 2378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594395"/>
            <a:ext cx="5372100" cy="4806404"/>
          </a:xfrm>
          <a:prstGeom prst="roundRect">
            <a:avLst>
              <a:gd name="adj" fmla="val 2378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391275"/>
            <a:ext cx="537210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1594395"/>
            <a:ext cx="53721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72175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23925" y="2261145"/>
            <a:ext cx="474345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0300" y="6391275"/>
            <a:ext cx="537210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0300" y="1594395"/>
            <a:ext cx="53721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0300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572875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24625" y="2261145"/>
            <a:ext cx="474345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932533"/>
            <a:ext cx="180975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1932533"/>
            <a:ext cx="180975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475458"/>
            <a:ext cx="13335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251745"/>
            <a:ext cx="13335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813720"/>
            <a:ext cx="13335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2475458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3037433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3599408"/>
            <a:ext cx="11430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4161383"/>
            <a:ext cx="114300" cy="1428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9600" y="485775"/>
            <a:ext cx="178296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A855F7"/>
                </a:solidFill>
                <a:latin typeface="system-ui"/>
              </a:rPr>
              <a:t>PROJECT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system-ui"/>
              </a:rPr>
              <a:t>Problem Statement &amp; Project Goals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1156245"/>
            <a:ext cx="115824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system-ui"/>
              </a:rPr>
              <a:t>Automating cloud deployment pipelines to eliminate manual bottlenecks and configuration drift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0150" y="1899195"/>
            <a:ext cx="4790598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system-ui"/>
              </a:rPr>
              <a:t>Problem Statement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0850" y="1899195"/>
            <a:ext cx="4790598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system-ui"/>
              </a:rPr>
              <a:t>Core Project Goals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1575" y="2442120"/>
            <a:ext cx="45910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A855F7"/>
                </a:solidFill>
                <a:latin typeface="system-ui"/>
              </a:rPr>
              <a:t>Operational Bottleneck: DevOps teams require a streamlined CI/CD pipeline to build, test, and deploy code consistently across environments.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1575" y="3218408"/>
            <a:ext cx="45910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A855F7"/>
                </a:solidFill>
                <a:latin typeface="system-ui"/>
              </a:rPr>
              <a:t>Orchestration Solution: Utilizing Jenkins as the master orchestrator for a Dockerized app deployed to AWS EKS.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1575" y="3780383"/>
            <a:ext cx="45910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A855F7"/>
                </a:solidFill>
                <a:latin typeface="system-ui"/>
              </a:rPr>
              <a:t>Automation Drive: Automating infrastructure provisioning and server setup to reduce manual intervention.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53225" y="2442120"/>
            <a:ext cx="4610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3B82F6"/>
                </a:solidFill>
                <a:latin typeface="system-ui"/>
              </a:rPr>
              <a:t>Architect AWS environment featuring Load Balancers, EKS orchestration, and monitoring.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3225" y="3004095"/>
            <a:ext cx="4610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3B82F6"/>
                </a:solidFill>
                <a:latin typeface="system-ui"/>
              </a:rPr>
              <a:t>Provision VPCs, Subnets, and EKS clusters using modular Terraform scripts.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53225" y="3566070"/>
            <a:ext cx="4610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3B82F6"/>
                </a:solidFill>
                <a:latin typeface="system-ui"/>
              </a:rPr>
              <a:t>Automate configuration management using Ansible playbooks for target instances.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3225" y="4128045"/>
            <a:ext cx="4610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3B82F6"/>
                </a:solidFill>
                <a:latin typeface="system-ui"/>
              </a:rPr>
              <a:t>Deploy scalable web apps to EKS with Prometheus &amp; Grafana real-time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94395"/>
            <a:ext cx="5372100" cy="4806404"/>
          </a:xfrm>
          <a:prstGeom prst="roundRect">
            <a:avLst>
              <a:gd name="adj" fmla="val 2378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594395"/>
            <a:ext cx="5372100" cy="4806404"/>
          </a:xfrm>
          <a:prstGeom prst="roundRect">
            <a:avLst>
              <a:gd name="adj" fmla="val 2378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391275"/>
            <a:ext cx="537210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1594395"/>
            <a:ext cx="53721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72175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23925" y="2261145"/>
            <a:ext cx="474345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0300" y="6391275"/>
            <a:ext cx="537210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0300" y="1594395"/>
            <a:ext cx="5372100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0300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572875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24625" y="2261145"/>
            <a:ext cx="474345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932533"/>
            <a:ext cx="200025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1932533"/>
            <a:ext cx="200025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475458"/>
            <a:ext cx="11430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3037433"/>
            <a:ext cx="1524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3599408"/>
            <a:ext cx="17145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2475458"/>
            <a:ext cx="1524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3037433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4625" y="3599408"/>
            <a:ext cx="133350" cy="1428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9600" y="485775"/>
            <a:ext cx="243501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B82F6"/>
                </a:solidFill>
                <a:latin typeface="system-ui"/>
              </a:rPr>
              <a:t>ARCHITECTURE &amp; FINANCE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system-ui"/>
              </a:rPr>
              <a:t>Implementation Strategy &amp; Cost Optimization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1156245"/>
            <a:ext cx="115824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system-ui"/>
              </a:rPr>
              <a:t>Automated multi-tool delivery chain designed for production stability and cloud budget efficiency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9200" y="1899195"/>
            <a:ext cx="4770596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system-ui"/>
              </a:rPr>
              <a:t>Technical Implementation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9900" y="1899195"/>
            <a:ext cx="4770596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system-ui"/>
              </a:rPr>
              <a:t>Cost Efficiency Measures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525" y="2442120"/>
            <a:ext cx="4610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3B82F6"/>
                </a:solidFill>
                <a:latin typeface="system-ui"/>
              </a:rPr>
              <a:t>Trigger &amp; Build: Git commit triggers Jenkins via webhooks to build Docker container images.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0625" y="3004095"/>
            <a:ext cx="4572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3B82F6"/>
                </a:solidFill>
                <a:latin typeface="system-ui"/>
              </a:rPr>
              <a:t>Provision &amp; Config: Jenkins executes Terraform for EKS creation, followed by Ansible node configuration.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9675" y="3566070"/>
            <a:ext cx="45529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3B82F6"/>
                </a:solidFill>
                <a:latin typeface="system-ui"/>
              </a:rPr>
              <a:t>Registry &amp; Deploy: Images stored in AWS ECR and deployed to EKS via </a:t>
            </a:r>
            <a:r>
              <a:rPr sz="1050" b="1" i="0" u="none">
                <a:solidFill>
                  <a:srgbClr val="38BDF8"/>
                </a:solidFill>
                <a:latin typeface="system-ui"/>
              </a:rPr>
              <a:t>kubectl</a:t>
            </a:r>
            <a:r>
              <a:rPr sz="1050" b="1" i="0" u="none">
                <a:solidFill>
                  <a:srgbClr val="3B82F6"/>
                </a:solidFill>
                <a:latin typeface="system-ui"/>
              </a:rPr>
              <a:t> manifests.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1325" y="2442120"/>
            <a:ext cx="4572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22C55E"/>
                </a:solidFill>
                <a:latin typeface="system-ui"/>
              </a:rPr>
              <a:t>EKS Dynamic Scaling: Auto-scaling node groups scale down to minimum capacity off-peak.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53225" y="3004095"/>
            <a:ext cx="4610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22C55E"/>
                </a:solidFill>
                <a:latin typeface="system-ui"/>
              </a:rPr>
              <a:t>S3 Lifecycle Rules: Automatic cleanup of old state backups and build artifacts in AWS ECR.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72275" y="3566070"/>
            <a:ext cx="45910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22C55E"/>
                </a:solidFill>
                <a:latin typeface="system-ui"/>
              </a:rPr>
              <a:t>Automated Cleanup: Complete infrastructure teardown validation via </a:t>
            </a:r>
            <a:r>
              <a:rPr sz="1050" b="1" i="0" u="none">
                <a:solidFill>
                  <a:srgbClr val="38BDF8"/>
                </a:solidFill>
                <a:latin typeface="system-ui"/>
              </a:rPr>
              <a:t>terraform destroy</a:t>
            </a:r>
            <a:r>
              <a:rPr sz="1050" b="1" i="0" u="none">
                <a:solidFill>
                  <a:srgbClr val="22C55E"/>
                </a:solidFill>
                <a:latin typeface="system-u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94395"/>
            <a:ext cx="10972800" cy="480640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756320"/>
            <a:ext cx="10648950" cy="44825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85775"/>
            <a:ext cx="17438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A855F7"/>
                </a:solidFill>
                <a:latin typeface="system-ui"/>
              </a:rPr>
              <a:t>SYSTEM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system-ui"/>
              </a:rPr>
              <a:t>Jenkins-Driven EKS Deployment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56245"/>
            <a:ext cx="115824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system-ui"/>
              </a:rPr>
              <a:t>End-to-end cloud infrastructure flow from developer commit to AWS EKS cluster deployment and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94395"/>
            <a:ext cx="5372100" cy="4806404"/>
          </a:xfrm>
          <a:prstGeom prst="roundRect">
            <a:avLst>
              <a:gd name="adj" fmla="val 2378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594395"/>
            <a:ext cx="5372100" cy="4806404"/>
          </a:xfrm>
          <a:prstGeom prst="roundRect">
            <a:avLst>
              <a:gd name="adj" fmla="val 2378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391275"/>
            <a:ext cx="537210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1594395"/>
            <a:ext cx="5372100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72175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23925" y="2261145"/>
            <a:ext cx="474345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0300" y="6391275"/>
            <a:ext cx="537210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0300" y="1594395"/>
            <a:ext cx="53721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0300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572875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24625" y="2261145"/>
            <a:ext cx="474345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932533"/>
            <a:ext cx="161925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1932533"/>
            <a:ext cx="180975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475458"/>
            <a:ext cx="11430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037433"/>
            <a:ext cx="1143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2475458"/>
            <a:ext cx="13335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3037433"/>
            <a:ext cx="13335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3599408"/>
            <a:ext cx="13335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4161383"/>
            <a:ext cx="133350" cy="1428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9600" y="485775"/>
            <a:ext cx="203150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A855F7"/>
                </a:solidFill>
                <a:latin typeface="system-ui"/>
              </a:rPr>
              <a:t>MILESTONE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system-ui"/>
              </a:rPr>
              <a:t>Complete Project Milestones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1156245"/>
            <a:ext cx="115824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system-ui"/>
              </a:rPr>
              <a:t>Comprehensive breakdown of all 6 project milestones from foundation to teardown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1100" y="1899195"/>
            <a:ext cx="4810601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system-ui"/>
              </a:rPr>
              <a:t>Completed Milestones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0850" y="1899195"/>
            <a:ext cx="4790598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system-ui"/>
              </a:rPr>
              <a:t>Upcoming Execution Milestones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525" y="2442120"/>
            <a:ext cx="4610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22C55E"/>
                </a:solidFill>
                <a:latin typeface="system-ui"/>
              </a:rPr>
              <a:t>Milestone 1: Architecture Design, Containerization with Docker, ECR Repository, and EC2 Jenkins Server Setup.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525" y="3004095"/>
            <a:ext cx="4610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22C55E"/>
                </a:solidFill>
                <a:latin typeface="system-ui"/>
              </a:rPr>
              <a:t>Milestone 2: AWS Infrastructure Provisioning using Modular Terraform (VPC, EKS, Subnets) with S3 Remote State Locking.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72275" y="2442120"/>
            <a:ext cx="45910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F59E0B"/>
                </a:solidFill>
                <a:latin typeface="system-ui"/>
              </a:rPr>
              <a:t>Milestone 3: Configuration Management with Ansible Playbooks for dynamic node provisioning post-Terraform.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2275" y="3004095"/>
            <a:ext cx="45910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F59E0B"/>
                </a:solidFill>
                <a:latin typeface="system-ui"/>
              </a:rPr>
              <a:t>Milestone 4: Declarative Multi-stage Jenkins Pipeline for automated Docker builds, ECR pushing, and EKS deployments.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72275" y="3566070"/>
            <a:ext cx="45910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F59E0B"/>
                </a:solidFill>
                <a:latin typeface="system-ui"/>
              </a:rPr>
              <a:t>Milestone 5: Observability stack installation (Prometheus &amp; Grafana Helm charts) with Alertmanager notifications.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72275" y="4128045"/>
            <a:ext cx="45910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 dirty="0">
                <a:solidFill>
                  <a:srgbClr val="F59E0B"/>
                </a:solidFill>
                <a:latin typeface="system-ui"/>
              </a:rPr>
              <a:t>Milestone 6: End-to-end integration testing, screenshot</a:t>
            </a:r>
            <a:r>
              <a:rPr lang="en-IN" sz="1050" b="1" i="0" u="none" dirty="0">
                <a:solidFill>
                  <a:srgbClr val="F59E0B"/>
                </a:solidFill>
                <a:latin typeface="system-ui"/>
              </a:rPr>
              <a:t>s</a:t>
            </a:r>
            <a:r>
              <a:rPr sz="1050" b="1" i="0" u="none" dirty="0">
                <a:solidFill>
                  <a:srgbClr val="F59E0B"/>
                </a:solidFill>
                <a:latin typeface="system-ui"/>
              </a:rPr>
              <a:t> evidence documentation, and </a:t>
            </a:r>
            <a:r>
              <a:rPr lang="en-IN" sz="1050" b="1" i="0" u="none" dirty="0">
                <a:solidFill>
                  <a:srgbClr val="F59E0B"/>
                </a:solidFill>
                <a:latin typeface="system-ui"/>
              </a:rPr>
              <a:t>automated cloud resources</a:t>
            </a:r>
            <a:r>
              <a:rPr sz="1050" b="1" i="0" u="none" dirty="0">
                <a:solidFill>
                  <a:srgbClr val="F59E0B"/>
                </a:solidFill>
                <a:latin typeface="system-ui"/>
              </a:rPr>
              <a:t> teardown</a:t>
            </a:r>
            <a:r>
              <a:rPr lang="en-IN" sz="1050" b="1" i="0" u="none" dirty="0">
                <a:solidFill>
                  <a:srgbClr val="F59E0B"/>
                </a:solidFill>
                <a:latin typeface="system-ui"/>
              </a:rPr>
              <a:t>.</a:t>
            </a:r>
            <a:endParaRPr sz="1050" b="1" i="0" u="none" dirty="0">
              <a:solidFill>
                <a:srgbClr val="F59E0B"/>
              </a:solidFill>
              <a:latin typeface="system-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94395"/>
            <a:ext cx="5372100" cy="4806404"/>
          </a:xfrm>
          <a:prstGeom prst="roundRect">
            <a:avLst>
              <a:gd name="adj" fmla="val 2378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594395"/>
            <a:ext cx="5372100" cy="4806404"/>
          </a:xfrm>
          <a:prstGeom prst="roundRect">
            <a:avLst>
              <a:gd name="adj" fmla="val 2378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391275"/>
            <a:ext cx="537210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1594395"/>
            <a:ext cx="5372100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72175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23925" y="2508795"/>
            <a:ext cx="474345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0300" y="6391275"/>
            <a:ext cx="537210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0300" y="1594395"/>
            <a:ext cx="5372100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0300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572875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24625" y="2261145"/>
            <a:ext cx="474345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056358"/>
            <a:ext cx="161925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5" y="1932533"/>
            <a:ext cx="161925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2723108"/>
            <a:ext cx="11430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3285083"/>
            <a:ext cx="1143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3847058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4409033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475458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037433"/>
            <a:ext cx="11430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599408"/>
            <a:ext cx="114300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4161383"/>
            <a:ext cx="114300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9600" y="485775"/>
            <a:ext cx="212433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2C55E"/>
                </a:solidFill>
                <a:latin typeface="system-ui"/>
              </a:rPr>
              <a:t>COMPLETED ARTIFACTS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system-ui"/>
              </a:rPr>
              <a:t>Dockerization, Jenkins Pipeline and Terraform Infrastructure Provisioning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1156245"/>
            <a:ext cx="115824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system-ui"/>
              </a:rPr>
              <a:t>Established base architecture, containerization, and Terraform 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1100" y="1899195"/>
            <a:ext cx="4810601" cy="504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system-ui"/>
              </a:rPr>
              <a:t>Sprint 1: Setup, Containerization &amp; Jenkins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1800" y="1899195"/>
            <a:ext cx="4810601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system-ui"/>
              </a:rPr>
              <a:t>Sprint 2: IaC Provisioning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525" y="2689770"/>
            <a:ext cx="4610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22C55E"/>
                </a:solidFill>
                <a:latin typeface="system-ui"/>
              </a:rPr>
              <a:t>EKS Design: Formulated multi-subnet VPC architecture with AWS Load Balancer.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525" y="3251745"/>
            <a:ext cx="4610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22C55E"/>
                </a:solidFill>
                <a:latin typeface="system-ui"/>
              </a:rPr>
              <a:t>Containerization: Wrote optimized Dockerfile; verified container image locally &amp; pushed to ECR.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525" y="3813720"/>
            <a:ext cx="4610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22C55E"/>
                </a:solidFill>
                <a:latin typeface="system-ui"/>
              </a:rPr>
              <a:t>Jenkins Server: Deployed on EC2 with AWS CLI, Docker, Kubernetes &amp; Git plugins.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525" y="4375695"/>
            <a:ext cx="4610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22C55E"/>
                </a:solidFill>
                <a:latin typeface="system-ui"/>
              </a:rPr>
              <a:t>Pipeline &amp; Webhooks: Configured Jenkins multi-stage pipeline, IAM credentials, and GitHub webhooks for automatic triggers.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53225" y="2442120"/>
            <a:ext cx="4610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22C55E"/>
                </a:solidFill>
                <a:latin typeface="system-ui"/>
              </a:rPr>
              <a:t>Terraform Scripts: Created modular IaC for VPC, Subnets, Gateways, SGs &amp; EKS.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3225" y="3004095"/>
            <a:ext cx="4610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22C55E"/>
                </a:solidFill>
                <a:latin typeface="system-ui"/>
              </a:rPr>
              <a:t>Remote Backend: Configured AWS S3 bucket backend with DynamoDB locking.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53225" y="3566070"/>
            <a:ext cx="4610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22C55E"/>
                </a:solidFill>
                <a:latin typeface="system-ui"/>
              </a:rPr>
              <a:t>Jenkins Automation: Automated job executing </a:t>
            </a:r>
            <a:r>
              <a:rPr sz="1050" b="1" i="0" u="none">
                <a:solidFill>
                  <a:srgbClr val="38BDF8"/>
                </a:solidFill>
                <a:latin typeface="system-ui"/>
              </a:rPr>
              <a:t>terraform init</a:t>
            </a:r>
            <a:r>
              <a:rPr sz="1050" b="1" i="0" u="none">
                <a:solidFill>
                  <a:srgbClr val="22C55E"/>
                </a:solidFill>
                <a:latin typeface="system-ui"/>
              </a:rPr>
              <a:t>, </a:t>
            </a:r>
            <a:r>
              <a:rPr sz="1050" b="1" i="0" u="none">
                <a:solidFill>
                  <a:srgbClr val="38BDF8"/>
                </a:solidFill>
                <a:latin typeface="system-ui"/>
              </a:rPr>
              <a:t>terraform plan</a:t>
            </a:r>
            <a:r>
              <a:rPr sz="1050" b="1" i="0" u="none">
                <a:solidFill>
                  <a:srgbClr val="22C55E"/>
                </a:solidFill>
                <a:latin typeface="system-ui"/>
              </a:rPr>
              <a:t>, and </a:t>
            </a:r>
            <a:r>
              <a:rPr sz="1050" b="1" i="0" u="none">
                <a:solidFill>
                  <a:srgbClr val="38BDF8"/>
                </a:solidFill>
                <a:latin typeface="system-ui"/>
              </a:rPr>
              <a:t>terraform apply</a:t>
            </a:r>
            <a:r>
              <a:rPr sz="1050" b="1" i="0" u="none">
                <a:solidFill>
                  <a:srgbClr val="22C55E"/>
                </a:solidFill>
                <a:latin typeface="system-ui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3225" y="4128045"/>
            <a:ext cx="4610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22C55E"/>
                </a:solidFill>
                <a:latin typeface="system-ui"/>
              </a:rPr>
              <a:t>State Locking: Secured state synchronization for team collaboration.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94395"/>
            <a:ext cx="5372100" cy="4806404"/>
          </a:xfrm>
          <a:prstGeom prst="roundRect">
            <a:avLst>
              <a:gd name="adj" fmla="val 2378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594395"/>
            <a:ext cx="5372100" cy="4806404"/>
          </a:xfrm>
          <a:prstGeom prst="roundRect">
            <a:avLst>
              <a:gd name="adj" fmla="val 2378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391275"/>
            <a:ext cx="537210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1594395"/>
            <a:ext cx="53721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72175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23925" y="2261145"/>
            <a:ext cx="474345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0300" y="6391275"/>
            <a:ext cx="537210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0300" y="1594395"/>
            <a:ext cx="53721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0300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572875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24625" y="2261145"/>
            <a:ext cx="474345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932533"/>
            <a:ext cx="200025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1932533"/>
            <a:ext cx="180975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475458"/>
            <a:ext cx="10477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037433"/>
            <a:ext cx="10477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599408"/>
            <a:ext cx="10477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4161383"/>
            <a:ext cx="10477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2475458"/>
            <a:ext cx="10477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037433"/>
            <a:ext cx="10477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599408"/>
            <a:ext cx="10477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4161383"/>
            <a:ext cx="104775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9600" y="485775"/>
            <a:ext cx="195746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75" b="1" i="0" u="none" dirty="0">
                <a:solidFill>
                  <a:srgbClr val="F59E0B"/>
                </a:solidFill>
                <a:latin typeface="system-ui"/>
              </a:rPr>
              <a:t>PENDING</a:t>
            </a:r>
            <a:r>
              <a:rPr sz="975" b="1" i="0" u="none" dirty="0">
                <a:solidFill>
                  <a:srgbClr val="F59E0B"/>
                </a:solidFill>
                <a:latin typeface="system-ui"/>
              </a:rPr>
              <a:t> EXECUTION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system-ui"/>
              </a:rPr>
              <a:t>Sprints 3 &amp; 4: Configuration &amp; Deployment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1156245"/>
            <a:ext cx="115824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system-ui"/>
              </a:rPr>
              <a:t>Target server configuration and end-to-end Kubernetes delivery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9200" y="1899195"/>
            <a:ext cx="4770596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system-ui"/>
              </a:rPr>
              <a:t>Sprint 3: Ansible Configuration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0850" y="1899195"/>
            <a:ext cx="4790598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system-ui"/>
              </a:rPr>
              <a:t>Sprint 4: EKS Application CI/CD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2442120"/>
            <a:ext cx="46196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F59E0B"/>
                </a:solidFill>
                <a:latin typeface="system-ui"/>
              </a:rPr>
              <a:t>Playbooks: Write playbooks to configure EC2, install Docker, </a:t>
            </a:r>
            <a:r>
              <a:rPr sz="1050" b="1" i="0" u="none">
                <a:solidFill>
                  <a:srgbClr val="38BDF8"/>
                </a:solidFill>
                <a:latin typeface="system-ui"/>
              </a:rPr>
              <a:t>kubectl</a:t>
            </a:r>
            <a:r>
              <a:rPr sz="1050" b="1" i="0" u="none">
                <a:solidFill>
                  <a:srgbClr val="F59E0B"/>
                </a:solidFill>
                <a:latin typeface="system-ui"/>
              </a:rPr>
              <a:t>, and dependencies.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3004095"/>
            <a:ext cx="46196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F59E0B"/>
                </a:solidFill>
                <a:latin typeface="system-ui"/>
              </a:rPr>
              <a:t>Jenkins Pipeline: Create pipeline job to run playbooks dynamically on AWS resources.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3566070"/>
            <a:ext cx="46196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F59E0B"/>
                </a:solidFill>
                <a:latin typeface="system-ui"/>
              </a:rPr>
              <a:t>Downstream Flow: Trigger Ansible job automatically following Terraform completion.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128045"/>
            <a:ext cx="46196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F59E0B"/>
                </a:solidFill>
                <a:latin typeface="system-ui"/>
              </a:rPr>
              <a:t>Validation: Verify playbook execution across provisioned environments.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3700" y="2442120"/>
            <a:ext cx="46196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F59E0B"/>
                </a:solidFill>
                <a:latin typeface="system-ui"/>
              </a:rPr>
              <a:t>Jenkinsfile: Develop multi-stage pipeline (Build, Test, Push, Deploy).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3700" y="3004095"/>
            <a:ext cx="46196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F59E0B"/>
                </a:solidFill>
                <a:latin typeface="system-ui"/>
              </a:rPr>
              <a:t>Container Push: Automate Docker image build and push to AWS ECR.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3700" y="3566070"/>
            <a:ext cx="46196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F59E0B"/>
                </a:solidFill>
                <a:latin typeface="system-ui"/>
              </a:rPr>
              <a:t>K8s Manifests: Deploy </a:t>
            </a:r>
            <a:r>
              <a:rPr sz="1050" b="1" i="0" u="none">
                <a:solidFill>
                  <a:srgbClr val="38BDF8"/>
                </a:solidFill>
                <a:latin typeface="system-ui"/>
              </a:rPr>
              <a:t>Deployment.yaml</a:t>
            </a:r>
            <a:r>
              <a:rPr sz="1050" b="1" i="0" u="none">
                <a:solidFill>
                  <a:srgbClr val="F59E0B"/>
                </a:solidFill>
                <a:latin typeface="system-ui"/>
              </a:rPr>
              <a:t> and </a:t>
            </a:r>
            <a:r>
              <a:rPr sz="1050" b="1" i="0" u="none">
                <a:solidFill>
                  <a:srgbClr val="38BDF8"/>
                </a:solidFill>
                <a:latin typeface="system-ui"/>
              </a:rPr>
              <a:t>Service.yaml</a:t>
            </a:r>
            <a:r>
              <a:rPr sz="1050" b="1" i="0" u="none">
                <a:solidFill>
                  <a:srgbClr val="F59E0B"/>
                </a:solidFill>
                <a:latin typeface="system-ui"/>
              </a:rPr>
              <a:t> to EKS.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3700" y="4128045"/>
            <a:ext cx="46196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F59E0B"/>
                </a:solidFill>
                <a:latin typeface="system-ui"/>
              </a:rPr>
              <a:t>Resilience: Configure K8s health checks, readiness probes, and HPA autoscaling.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94395"/>
            <a:ext cx="5372100" cy="4806404"/>
          </a:xfrm>
          <a:prstGeom prst="roundRect">
            <a:avLst>
              <a:gd name="adj" fmla="val 2378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594395"/>
            <a:ext cx="5372100" cy="4806404"/>
          </a:xfrm>
          <a:prstGeom prst="roundRect">
            <a:avLst>
              <a:gd name="adj" fmla="val 2378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391275"/>
            <a:ext cx="537210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1594395"/>
            <a:ext cx="53721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72175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23925" y="2261145"/>
            <a:ext cx="474345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0300" y="6391275"/>
            <a:ext cx="537210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0300" y="1594395"/>
            <a:ext cx="53721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0300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572875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24625" y="2261145"/>
            <a:ext cx="474345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932533"/>
            <a:ext cx="180975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1932533"/>
            <a:ext cx="1333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475458"/>
            <a:ext cx="10477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037433"/>
            <a:ext cx="10477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599408"/>
            <a:ext cx="10477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4161383"/>
            <a:ext cx="10477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2475458"/>
            <a:ext cx="10477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037433"/>
            <a:ext cx="10477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599408"/>
            <a:ext cx="10477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4161383"/>
            <a:ext cx="104775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9600" y="485775"/>
            <a:ext cx="195746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59E0B"/>
                </a:solidFill>
                <a:latin typeface="system-ui"/>
              </a:rPr>
              <a:t>PENDING EXECUTION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system-ui"/>
              </a:rPr>
              <a:t>Sprints 5 &amp; 6: Observability &amp; Final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1156245"/>
            <a:ext cx="115824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system-ui"/>
              </a:rPr>
              <a:t>Metrics monitoring, alert routing, final testing, and infrastructure teardown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0150" y="1899195"/>
            <a:ext cx="4790598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system-ui"/>
              </a:rPr>
              <a:t>Sprint 5: Monitoring &amp; Alerting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3225" y="1899195"/>
            <a:ext cx="4840605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system-ui"/>
              </a:rPr>
              <a:t>Sprint 6: Testing &amp; Documentation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2442120"/>
            <a:ext cx="46196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F59E0B"/>
                </a:solidFill>
                <a:latin typeface="system-ui"/>
              </a:rPr>
              <a:t>Prometheus Setup: Deploy Prometheus in EKS to monitor node and app metrics.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3004095"/>
            <a:ext cx="46196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F59E0B"/>
                </a:solidFill>
                <a:latin typeface="system-ui"/>
              </a:rPr>
              <a:t>Grafana Dashboards: Build dashboards visualizing cluster performance and health.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3566070"/>
            <a:ext cx="46196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F59E0B"/>
                </a:solidFill>
                <a:latin typeface="system-ui"/>
              </a:rPr>
              <a:t>Jenkins Integration: Monitor build pipelines and underlying infrastructure health.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128045"/>
            <a:ext cx="46196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F59E0B"/>
                </a:solidFill>
                <a:latin typeface="system-ui"/>
              </a:rPr>
              <a:t>Alert Routing: Configure Prometheus alerting rules for build failure notifications.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3700" y="2442120"/>
            <a:ext cx="46196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F59E0B"/>
                </a:solidFill>
                <a:latin typeface="system-ui"/>
              </a:rPr>
              <a:t>Test Suites: Execute test cases for app functionality and infrastructure integrity.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3700" y="3004095"/>
            <a:ext cx="46196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F59E0B"/>
                </a:solidFill>
                <a:latin typeface="system-ui"/>
              </a:rPr>
              <a:t>Auto Triggers: Link stage-to-stage triggers (Code push → Build → Deploy).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3700" y="3566070"/>
            <a:ext cx="46196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F59E0B"/>
                </a:solidFill>
                <a:latin typeface="system-ui"/>
              </a:rPr>
              <a:t>Documentation: Finalize Terraform, Ansible, K8s, and Jenkins guides.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3700" y="4128045"/>
            <a:ext cx="46196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F59E0B"/>
                </a:solidFill>
                <a:latin typeface="system-ui"/>
              </a:rPr>
              <a:t>Teardown Verification: Validate resource cleanup via </a:t>
            </a:r>
            <a:r>
              <a:rPr sz="1050" b="1" i="0" u="none">
                <a:solidFill>
                  <a:srgbClr val="38BDF8"/>
                </a:solidFill>
                <a:latin typeface="system-ui"/>
              </a:rPr>
              <a:t>terraform destroy</a:t>
            </a:r>
            <a:r>
              <a:rPr sz="1050" b="1" i="0" u="none">
                <a:solidFill>
                  <a:srgbClr val="F59E0B"/>
                </a:solidFill>
                <a:latin typeface="system-u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94395"/>
            <a:ext cx="5372100" cy="4806404"/>
          </a:xfrm>
          <a:prstGeom prst="roundRect">
            <a:avLst>
              <a:gd name="adj" fmla="val 2378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594395"/>
            <a:ext cx="5372100" cy="4806404"/>
          </a:xfrm>
          <a:prstGeom prst="roundRect">
            <a:avLst>
              <a:gd name="adj" fmla="val 2378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391275"/>
            <a:ext cx="537210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1594395"/>
            <a:ext cx="53721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72175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23925" y="2261145"/>
            <a:ext cx="474345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0300" y="6391275"/>
            <a:ext cx="537210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0300" y="1594395"/>
            <a:ext cx="5372100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0300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572875" y="1594395"/>
            <a:ext cx="9525" cy="48064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24625" y="2261145"/>
            <a:ext cx="474345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932533"/>
            <a:ext cx="180975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1932533"/>
            <a:ext cx="180975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475458"/>
            <a:ext cx="13335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823120"/>
            <a:ext cx="13335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385095"/>
            <a:ext cx="13335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2475458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3037433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3599408"/>
            <a:ext cx="114300" cy="1428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9600" y="485775"/>
            <a:ext cx="203857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B82F6"/>
                </a:solidFill>
                <a:latin typeface="system-ui"/>
              </a:rPr>
              <a:t>EVIDENCE STANDARDS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system-ui"/>
              </a:rPr>
              <a:t>Documentation &amp; Evidence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1156245"/>
            <a:ext cx="115824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system-ui"/>
              </a:rPr>
              <a:t>Capturing delivery screenshots, naming conventions, and security 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0150" y="1899195"/>
            <a:ext cx="4790598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system-ui"/>
              </a:rPr>
              <a:t>Evidence Captures Checklist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0850" y="1899195"/>
            <a:ext cx="4790598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system-ui"/>
              </a:rPr>
              <a:t>Compliance &amp; Redaction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1575" y="2442120"/>
            <a:ext cx="5681662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3B82F6"/>
                </a:solidFill>
                <a:latin typeface="system-ui"/>
              </a:rPr>
              <a:t>Tool Versions: Terminal captures for </a:t>
            </a:r>
            <a:r>
              <a:rPr sz="1050" b="1" i="0" u="none">
                <a:solidFill>
                  <a:srgbClr val="38BDF8"/>
                </a:solidFill>
                <a:latin typeface="system-ui"/>
              </a:rPr>
              <a:t>terraform</a:t>
            </a:r>
            <a:r>
              <a:rPr sz="1050" b="1" i="0" u="none">
                <a:solidFill>
                  <a:srgbClr val="3B82F6"/>
                </a:solidFill>
                <a:latin typeface="system-ui"/>
              </a:rPr>
              <a:t>, </a:t>
            </a:r>
            <a:r>
              <a:rPr sz="1050" b="1" i="0" u="none">
                <a:solidFill>
                  <a:srgbClr val="38BDF8"/>
                </a:solidFill>
                <a:latin typeface="system-ui"/>
              </a:rPr>
              <a:t>aws</a:t>
            </a:r>
            <a:r>
              <a:rPr sz="1050" b="1" i="0" u="none">
                <a:solidFill>
                  <a:srgbClr val="3B82F6"/>
                </a:solidFill>
                <a:latin typeface="system-ui"/>
              </a:rPr>
              <a:t>, and </a:t>
            </a:r>
            <a:r>
              <a:rPr sz="1050" b="1" i="0" u="none">
                <a:solidFill>
                  <a:srgbClr val="38BDF8"/>
                </a:solidFill>
                <a:latin typeface="system-ui"/>
              </a:rPr>
              <a:t>kubectl</a:t>
            </a:r>
            <a:r>
              <a:rPr sz="1050" b="1" i="0" u="none">
                <a:solidFill>
                  <a:srgbClr val="3B82F6"/>
                </a:solidFill>
                <a:latin typeface="system-ui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1575" y="2789783"/>
            <a:ext cx="45910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3B82F6"/>
                </a:solidFill>
                <a:latin typeface="system-ui"/>
              </a:rPr>
              <a:t>IaC Verification: Terminal outputs for </a:t>
            </a:r>
            <a:r>
              <a:rPr sz="1050" b="1" i="0" u="none">
                <a:solidFill>
                  <a:srgbClr val="38BDF8"/>
                </a:solidFill>
                <a:latin typeface="system-ui"/>
              </a:rPr>
              <a:t>terraform plan</a:t>
            </a:r>
            <a:r>
              <a:rPr sz="1050" b="1" i="0" u="none">
                <a:solidFill>
                  <a:srgbClr val="3B82F6"/>
                </a:solidFill>
                <a:latin typeface="system-ui"/>
              </a:rPr>
              <a:t> and AWS Console active EKS cluster.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1575" y="3351758"/>
            <a:ext cx="45910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3B82F6"/>
                </a:solidFill>
                <a:latin typeface="system-ui"/>
              </a:rPr>
              <a:t>Deployment &amp; App: Jenkins build console logs and live LoadBalancer endpoint HTTP test.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53225" y="2442120"/>
            <a:ext cx="4610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22C55E"/>
                </a:solidFill>
                <a:latin typeface="system-ui"/>
              </a:rPr>
              <a:t>Naming Rules: Follow exact pattern: </a:t>
            </a:r>
            <a:r>
              <a:rPr sz="1050" b="1" i="0" u="none">
                <a:solidFill>
                  <a:srgbClr val="38BDF8"/>
                </a:solidFill>
                <a:latin typeface="system-ui"/>
              </a:rPr>
              <a:t>YYYY-MM-DD-m2-eks-cluster.png</a:t>
            </a:r>
            <a:r>
              <a:rPr sz="1050" b="1" i="0" u="none">
                <a:solidFill>
                  <a:srgbClr val="22C55E"/>
                </a:solidFill>
                <a:latin typeface="system-ui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53225" y="3004095"/>
            <a:ext cx="4610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22C55E"/>
                </a:solidFill>
                <a:latin typeface="system-ui"/>
              </a:rPr>
              <a:t>Redaction Policy: Redact AWS account IDs, private keys, secrets, and IP addresses.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3225" y="3566070"/>
            <a:ext cx="4610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050" b="1" i="0" u="none">
                <a:solidFill>
                  <a:srgbClr val="22C55E"/>
                </a:solidFill>
                <a:latin typeface="system-ui"/>
              </a:rPr>
              <a:t>Repo Cleanliness: Keep state files local/backend; store captures under </a:t>
            </a:r>
            <a:r>
              <a:rPr sz="1050" b="1" i="0" u="none">
                <a:solidFill>
                  <a:srgbClr val="38BDF8"/>
                </a:solidFill>
                <a:latin typeface="system-ui"/>
              </a:rPr>
              <a:t>/docs/evidence</a:t>
            </a:r>
            <a:r>
              <a:rPr sz="1050" b="1" i="0" u="none">
                <a:solidFill>
                  <a:srgbClr val="22C55E"/>
                </a:solidFill>
                <a:latin typeface="system-u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957911" y="2161282"/>
            <a:ext cx="2276028" cy="304800"/>
          </a:xfrm>
          <a:prstGeom prst="roundRect">
            <a:avLst>
              <a:gd name="adj" fmla="val 50000"/>
            </a:avLst>
          </a:prstGeom>
          <a:solidFill>
            <a:srgbClr val="131F35"/>
          </a:solidFill>
          <a:ln w="9525">
            <a:solidFill>
              <a:srgbClr val="172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3098" y="4258567"/>
            <a:ext cx="2145655" cy="43815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9323" y="4401442"/>
            <a:ext cx="1905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44857" y="2218432"/>
            <a:ext cx="250213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3B82F6"/>
                </a:solidFill>
                <a:latin typeface="system-ui"/>
              </a:rPr>
              <a:t>INTERACTIVE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" y="2732782"/>
            <a:ext cx="10001250" cy="525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sz="3450" b="1" i="0" u="none">
                <a:solidFill>
                  <a:srgbClr val="F8FAFC"/>
                </a:solidFill>
                <a:latin typeface="system-ui"/>
              </a:rPr>
              <a:t>Questions &amp;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10842"/>
            <a:ext cx="95250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sz="1425" b="0" i="0" u="none">
                <a:solidFill>
                  <a:srgbClr val="94A3B8"/>
                </a:solidFill>
                <a:latin typeface="system-ui"/>
              </a:rPr>
              <a:t>We welcome your questions, feedback, and discussion regarding our architecture, implementation plan, and pipeline execution.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1641" y="4382392"/>
            <a:ext cx="163431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8FAFC"/>
                </a:solidFill>
                <a:latin typeface="system-ui"/>
              </a:rPr>
              <a:t>Q&amp;A Session Open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960887" y="2639317"/>
            <a:ext cx="2270075" cy="304800"/>
          </a:xfrm>
          <a:prstGeom prst="roundRect">
            <a:avLst>
              <a:gd name="adj" fmla="val 50000"/>
            </a:avLst>
          </a:prstGeom>
          <a:solidFill>
            <a:srgbClr val="0C3E2F"/>
          </a:solidFill>
          <a:ln w="9525">
            <a:solidFill>
              <a:srgbClr val="0E4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8578" y="2696467"/>
            <a:ext cx="249469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22C55E"/>
                </a:solidFill>
                <a:latin typeface="system-ui"/>
              </a:rPr>
              <a:t>PRESENTATION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1372" y="3210817"/>
            <a:ext cx="7169255" cy="569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system-ui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2068" y="3932783"/>
            <a:ext cx="682786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system-ui"/>
              </a:rPr>
              <a:t>End-to-End DevOps Pipeline for a Web Application with CI/CD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1004</Words>
  <Application>Microsoft Office PowerPoint</Application>
  <PresentationFormat>Widescreen</PresentationFormat>
  <Paragraphs>97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system-ui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Vikram R</cp:lastModifiedBy>
  <cp:revision>3</cp:revision>
  <dcterms:created xsi:type="dcterms:W3CDTF">2013-01-27T09:14:16Z</dcterms:created>
  <dcterms:modified xsi:type="dcterms:W3CDTF">2026-10-30T15:39:12Z</dcterms:modified>
  <cp:category/>
</cp:coreProperties>
</file>